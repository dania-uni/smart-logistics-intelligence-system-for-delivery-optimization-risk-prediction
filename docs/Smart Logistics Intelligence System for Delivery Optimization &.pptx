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92" r:id="rId5"/>
    <p:sldId id="301" r:id="rId6"/>
    <p:sldId id="298" r:id="rId7"/>
    <p:sldId id="279" r:id="rId8"/>
    <p:sldId id="276" r:id="rId9"/>
    <p:sldId id="302" r:id="rId10"/>
    <p:sldId id="303" r:id="rId11"/>
    <p:sldId id="304" r:id="rId12"/>
    <p:sldId id="305" r:id="rId13"/>
    <p:sldId id="306" r:id="rId14"/>
    <p:sldId id="307" r:id="rId15"/>
    <p:sldId id="308" r:id="rId16"/>
    <p:sldId id="309" r:id="rId17"/>
    <p:sldId id="295" r:id="rId18"/>
    <p:sldId id="300" r:id="rId19"/>
    <p:sldId id="289"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839" autoAdjust="0"/>
  </p:normalViewPr>
  <p:slideViewPr>
    <p:cSldViewPr snapToGrid="0" showGuides="1">
      <p:cViewPr varScale="1">
        <p:scale>
          <a:sx n="105" d="100"/>
          <a:sy n="105" d="100"/>
        </p:scale>
        <p:origin x="164" y="56"/>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5/31/2026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5/31/2026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4</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EF86F-56D0-3D0B-729D-C085F47D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BB2A1-FEE7-7377-49A9-613A7CF607E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9D974CC5-FD15-B9A1-1F0B-6C9C09ECBBC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059D3B8F-8CEF-1DEC-12BC-26D1E5BFA1B2}"/>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276119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EAE71-2C86-C5A6-F0C8-155C264E1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55806-0DE9-06CC-F8F5-5CC8C36C78DA}"/>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B9D909B-77FD-F41A-8C75-9048F366F5D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D3815BC6-51F6-A265-8746-EA03BDE3277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2771581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B6C1D-8C73-5E7A-C4F7-81C2F91F9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2A134-EA92-4098-F3DC-C1E8752EC6C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194AE91F-2702-410F-8418-54434FAEA5F6}"/>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4B7A8D2-0987-4D01-44BF-EC537EA446CB}"/>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8</a:t>
            </a:fld>
            <a:endParaRPr lang="en-US" altLang="zh-CN" dirty="0"/>
          </a:p>
        </p:txBody>
      </p:sp>
    </p:spTree>
    <p:extLst>
      <p:ext uri="{BB962C8B-B14F-4D97-AF65-F5344CB8AC3E}">
        <p14:creationId xmlns:p14="http://schemas.microsoft.com/office/powerpoint/2010/main" val="18846587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D5829-EE88-CF27-4EBD-43D64E7F4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1D658-E45F-1FDD-DC03-8B630E96719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2BA714A-D174-2EFE-D15C-3958702EAB59}"/>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10D11A0-25C2-8111-0043-752B368D1D3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9</a:t>
            </a:fld>
            <a:endParaRPr lang="en-US" altLang="zh-CN" dirty="0"/>
          </a:p>
        </p:txBody>
      </p:sp>
    </p:spTree>
    <p:extLst>
      <p:ext uri="{BB962C8B-B14F-4D97-AF65-F5344CB8AC3E}">
        <p14:creationId xmlns:p14="http://schemas.microsoft.com/office/powerpoint/2010/main" val="697390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006BF-9E9B-611E-F70C-E51B45392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9FE09-72B1-1604-4F2F-C360AACDDC9A}"/>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5DAEB6C-F43E-8DBF-E440-3AC5E2A2C1F9}"/>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E6379C6-7B52-7E0D-43BD-8EC4EFFB05C7}"/>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2344670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D0D6C-9AF5-E7D4-046C-AFE968059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662A7D-0FAF-1FCE-A683-0E0CD5CC723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78BE203-FBFF-95A1-88F4-7D3C5121A31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968C8A53-0BA5-C3F3-855C-175960B6DF61}"/>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3464612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14</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noAutofit/>
          </a:bodyPr>
          <a:lstStyle/>
          <a:p>
            <a:pPr algn="ctr"/>
            <a:r>
              <a:rPr lang="en-US" sz="3200" dirty="0"/>
              <a:t>Smart Logistics Intelligence System for Delivery Optimization &amp; Risk Prediction</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pPr algn="ctr"/>
            <a:r>
              <a:rPr lang="en-US" sz="1600" dirty="0"/>
              <a:t>Dania Ibrahim Alqaisi, Halla Alaa Eddin Awad, &amp; Rakan Al Saied Obaid</a:t>
            </a:r>
          </a:p>
          <a:p>
            <a:endParaRPr lang="en-US" dirty="0"/>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6522" r="6522"/>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0D7A8-6792-6BE0-C584-F684C13EEB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44766-B5B9-9D8E-3AC7-11C04122AE2B}"/>
              </a:ext>
            </a:extLst>
          </p:cNvPr>
          <p:cNvSpPr>
            <a:spLocks noGrp="1"/>
          </p:cNvSpPr>
          <p:nvPr>
            <p:ph type="title"/>
          </p:nvPr>
        </p:nvSpPr>
        <p:spPr>
          <a:xfrm>
            <a:off x="1195465" y="1274163"/>
            <a:ext cx="5029200" cy="2743200"/>
          </a:xfrm>
        </p:spPr>
        <p:txBody>
          <a:bodyPr lIns="0" anchor="t" anchorCtr="0">
            <a:noAutofit/>
          </a:bodyPr>
          <a:lstStyle/>
          <a:p>
            <a:br>
              <a:rPr lang="en-US" sz="1800" dirty="0"/>
            </a:br>
            <a:r>
              <a:rPr lang="en-US" sz="2000" b="0" dirty="0"/>
              <a:t>Delivery &amp; Logistics Analytics System</a:t>
            </a:r>
            <a:br>
              <a:rPr lang="en-US" sz="2000" b="0" dirty="0"/>
            </a:br>
            <a:br>
              <a:rPr lang="en-US" sz="2000" b="0" dirty="0"/>
            </a:br>
            <a:r>
              <a:rPr lang="en-US" sz="2000" b="0" dirty="0"/>
              <a:t>This project uses Business Intelligence and AI techniques to analyze delivery performance, delays, returns, customer risk, and operational efficiency.</a:t>
            </a:r>
            <a:br>
              <a:rPr lang="en-US" sz="2000" b="0" dirty="0"/>
            </a:br>
            <a:br>
              <a:rPr lang="en-US" sz="2000" b="0" dirty="0"/>
            </a:br>
            <a:br>
              <a:rPr lang="en-US" sz="2000" b="0" dirty="0"/>
            </a:br>
            <a:r>
              <a:rPr lang="en-US" sz="2000" b="0" dirty="0"/>
              <a:t>The project combines:</a:t>
            </a:r>
            <a:br>
              <a:rPr lang="en-US" sz="2000" b="0" dirty="0"/>
            </a:br>
            <a:r>
              <a:rPr lang="en-US" sz="2000" b="0" dirty="0"/>
              <a:t>Power BI dashboards </a:t>
            </a:r>
            <a:br>
              <a:rPr lang="en-US" sz="2000" b="0" dirty="0"/>
            </a:br>
            <a:r>
              <a:rPr lang="en-US" sz="2000" b="0" dirty="0"/>
              <a:t>KNIME analytics workflows </a:t>
            </a:r>
            <a:br>
              <a:rPr lang="en-US" sz="2000" b="0" dirty="0"/>
            </a:br>
            <a:r>
              <a:rPr lang="en-US" sz="2000" b="0" dirty="0"/>
              <a:t>Machine Learning models </a:t>
            </a:r>
            <a:br>
              <a:rPr lang="en-US" sz="2000" b="0" dirty="0"/>
            </a:br>
            <a:r>
              <a:rPr lang="en-US" sz="2000" b="0" dirty="0"/>
              <a:t>Customer segmentation techniques</a:t>
            </a:r>
            <a:endParaRPr lang="en-US" sz="1800" b="0" dirty="0"/>
          </a:p>
        </p:txBody>
      </p:sp>
      <p:sp>
        <p:nvSpPr>
          <p:cNvPr id="3" name="Text Placeholder 2">
            <a:extLst>
              <a:ext uri="{FF2B5EF4-FFF2-40B4-BE49-F238E27FC236}">
                <a16:creationId xmlns:a16="http://schemas.microsoft.com/office/drawing/2014/main" id="{23F859AE-40FA-7747-69C2-ED7C15867E63}"/>
              </a:ext>
            </a:extLst>
          </p:cNvPr>
          <p:cNvSpPr>
            <a:spLocks noGrp="1"/>
          </p:cNvSpPr>
          <p:nvPr>
            <p:ph type="body" sz="quarter" idx="28"/>
          </p:nvPr>
        </p:nvSpPr>
        <p:spPr>
          <a:xfrm>
            <a:off x="1066800" y="449106"/>
            <a:ext cx="5029200" cy="760288"/>
          </a:xfrm>
        </p:spPr>
        <p:txBody>
          <a:bodyPr anchor="b" anchorCtr="0">
            <a:normAutofit/>
          </a:bodyPr>
          <a:lstStyle/>
          <a:p>
            <a:r>
              <a:rPr lang="en-US" sz="3200" b="1" dirty="0"/>
              <a:t>Project Overview</a:t>
            </a:r>
          </a:p>
        </p:txBody>
      </p:sp>
      <p:pic>
        <p:nvPicPr>
          <p:cNvPr id="12" name="Picture Placeholder 11">
            <a:extLst>
              <a:ext uri="{FF2B5EF4-FFF2-40B4-BE49-F238E27FC236}">
                <a16:creationId xmlns:a16="http://schemas.microsoft.com/office/drawing/2014/main" id="{6315A51B-A070-6D5D-122E-894A58FA25D6}"/>
              </a:ext>
            </a:extLst>
          </p:cNvPr>
          <p:cNvPicPr>
            <a:picLocks noGrp="1" noChangeAspect="1"/>
          </p:cNvPicPr>
          <p:nvPr>
            <p:ph type="pic" sz="quarter" idx="47"/>
          </p:nvPr>
        </p:nvPicPr>
        <p:blipFill>
          <a:blip r:embed="rId2"/>
          <a:srcRect l="5097" r="5097"/>
          <a:stretch/>
        </p:blipFill>
        <p:spPr>
          <a:xfrm>
            <a:off x="7493157" y="529148"/>
            <a:ext cx="4248873" cy="4731130"/>
          </a:xfrm>
        </p:spPr>
      </p:pic>
    </p:spTree>
    <p:extLst>
      <p:ext uri="{BB962C8B-B14F-4D97-AF65-F5344CB8AC3E}">
        <p14:creationId xmlns:p14="http://schemas.microsoft.com/office/powerpoint/2010/main" val="11742938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259600" y="1279545"/>
            <a:ext cx="5515551" cy="5090569"/>
          </a:xfrm>
        </p:spPr>
        <p:txBody>
          <a:bodyPr lIns="0" anchor="t" anchorCtr="0">
            <a:noAutofit/>
          </a:bodyPr>
          <a:lstStyle/>
          <a:p>
            <a:r>
              <a:rPr lang="en-US" sz="1800" b="0" dirty="0"/>
              <a:t>Problem</a:t>
            </a:r>
            <a:br>
              <a:rPr lang="en-US" sz="1800" b="0" dirty="0"/>
            </a:br>
            <a:br>
              <a:rPr lang="en-US" sz="1800" b="0" dirty="0"/>
            </a:br>
            <a:r>
              <a:rPr lang="en-US" sz="1400" b="0" dirty="0"/>
              <a:t>Fast Man Company faces challenges related to delivery delays, returned orders, revenue loss, and identifying high-risk deliveries. Manual monitoring makes it difficult to detect patterns and improve operational performance.</a:t>
            </a:r>
            <a:br>
              <a:rPr lang="en-US" sz="1400" b="0" dirty="0"/>
            </a:br>
            <a:br>
              <a:rPr lang="en-US" sz="1800" b="0" dirty="0"/>
            </a:br>
            <a:r>
              <a:rPr lang="en-US" sz="1800" b="0" dirty="0"/>
              <a:t>Objectives</a:t>
            </a:r>
            <a:br>
              <a:rPr lang="en-US" sz="1800" b="0" dirty="0"/>
            </a:br>
            <a:br>
              <a:rPr lang="en-US" sz="1800" b="0" dirty="0"/>
            </a:br>
            <a:r>
              <a:rPr lang="en-US" sz="1800" b="0" dirty="0"/>
              <a:t>- </a:t>
            </a:r>
            <a:r>
              <a:rPr lang="en-US" sz="1400" b="0" dirty="0"/>
              <a:t>Analyze delivery performance, delays, returns, and revenue.</a:t>
            </a:r>
            <a:br>
              <a:rPr lang="en-US" sz="1400" b="0" dirty="0"/>
            </a:br>
            <a:r>
              <a:rPr lang="en-US" sz="1400" b="0" dirty="0"/>
              <a:t>- Monitor driver and regional performance. </a:t>
            </a:r>
            <a:br>
              <a:rPr lang="en-US" sz="1400" b="0" dirty="0"/>
            </a:br>
            <a:r>
              <a:rPr lang="en-US" sz="1400" b="0" dirty="0"/>
              <a:t>- Predict delivery risks and returned orders using Machine Learning. </a:t>
            </a:r>
            <a:br>
              <a:rPr lang="en-US" sz="1400" b="0" dirty="0"/>
            </a:br>
            <a:r>
              <a:rPr lang="en-US" sz="1400" b="0" dirty="0"/>
              <a:t>- Segment deliveries into meaningful groups using K-Means clustering. </a:t>
            </a:r>
            <a:br>
              <a:rPr lang="en-US" sz="1400" b="0" dirty="0"/>
            </a:br>
            <a:r>
              <a:rPr lang="en-US" sz="1400" b="0" dirty="0"/>
              <a:t>- Support data-driven decision-making through interactive Power BI dashboards. </a:t>
            </a:r>
            <a:br>
              <a:rPr lang="en-US" sz="1400" b="0" dirty="0"/>
            </a:br>
            <a:br>
              <a:rPr lang="en-US" sz="1800" b="0" dirty="0"/>
            </a:br>
            <a:r>
              <a:rPr lang="en-US" sz="1800" b="0" dirty="0"/>
              <a:t>Goal</a:t>
            </a:r>
            <a:br>
              <a:rPr lang="en-US" sz="1800" b="0" dirty="0"/>
            </a:br>
            <a:br>
              <a:rPr lang="en-US" sz="1800" b="0" dirty="0"/>
            </a:br>
            <a:r>
              <a:rPr lang="en-US" sz="1400" b="0" dirty="0"/>
              <a:t>Develop a Smart Logistics Intelligence System that improves delivery efficiency, reduces operational risks, and supports better business decisions.</a:t>
            </a:r>
            <a:endParaRPr lang="en-US" sz="1800" b="0" dirty="0"/>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143000" y="331701"/>
            <a:ext cx="5029200" cy="760288"/>
          </a:xfrm>
        </p:spPr>
        <p:txBody>
          <a:bodyPr anchor="b" anchorCtr="0">
            <a:normAutofit/>
          </a:bodyPr>
          <a:lstStyle/>
          <a:p>
            <a:r>
              <a:rPr lang="en-US" sz="2800" b="1" dirty="0"/>
              <a:t>Project Problem &amp; Objectives</a:t>
            </a:r>
          </a:p>
        </p:txBody>
      </p:sp>
      <p:pic>
        <p:nvPicPr>
          <p:cNvPr id="12" name="Picture Placeholder 11">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5097" r="5097"/>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39506" cy="5049452"/>
          </a:xfrm>
        </p:spPr>
        <p:txBody>
          <a:bodyPr>
            <a:normAutofit fontScale="90000"/>
          </a:bodyPr>
          <a:lstStyle/>
          <a:p>
            <a:r>
              <a:rPr lang="en-US" dirty="0"/>
              <a:t>Dataset Overview</a:t>
            </a:r>
            <a:br>
              <a:rPr lang="en-US" dirty="0"/>
            </a:br>
            <a:br>
              <a:rPr lang="en-US" dirty="0"/>
            </a:br>
            <a:r>
              <a:rPr lang="en-US" sz="1800" b="0" dirty="0"/>
              <a:t>The dataset used in this project was provided by Fast Man Company in Jordan and contains real logistics and delivery operation records. It includes information related to orders, customers, drivers, delivery status, return status, delivery attempts, payment methods, revenue, delivery fees, booking dates, delivery dates, and failure reasons. During the preprocessing phase, additional variables such as Delivery Delay, Scheduled Days, Actual Delivery Days, Is Late, and Is Returned were created to support analysis and machine learning modeling. The dataset served as the foundation for evaluating delivery performance, identifying operational risks, predicting delivery outcomes, and developing business intelligence dashboards to support data-driven decision-making.</a:t>
            </a:r>
            <a:br>
              <a:rPr lang="en-US" b="0" dirty="0"/>
            </a:br>
            <a:endParaRPr lang="en-US" dirty="0"/>
          </a:p>
        </p:txBody>
      </p:sp>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4</a:t>
            </a:fld>
            <a:endParaRPr lang="en-US" altLang="zh-CN" noProof="0" dirty="0"/>
          </a:p>
        </p:txBody>
      </p:sp>
      <p:pic>
        <p:nvPicPr>
          <p:cNvPr id="9" name="Picture Placeholder 11">
            <a:extLst>
              <a:ext uri="{FF2B5EF4-FFF2-40B4-BE49-F238E27FC236}">
                <a16:creationId xmlns:a16="http://schemas.microsoft.com/office/drawing/2014/main" id="{E3EF2831-3D19-C17B-0D0D-FDA2C02D95A6}"/>
              </a:ext>
            </a:extLst>
          </p:cNvPr>
          <p:cNvPicPr>
            <a:picLocks noChangeAspect="1"/>
          </p:cNvPicPr>
          <p:nvPr/>
        </p:nvPicPr>
        <p:blipFill>
          <a:blip r:embed="rId3">
            <a:extLst>
              <a:ext uri="{BEBA8EAE-BF5A-486C-A8C5-ECC9F3942E4B}">
                <a14:imgProps xmlns:a14="http://schemas.microsoft.com/office/drawing/2010/main">
                  <a14:imgLayer r:embed="rId4">
                    <a14:imgEffect>
                      <a14:artisticTexturizer/>
                    </a14:imgEffect>
                  </a14:imgLayer>
                </a14:imgProps>
              </a:ext>
            </a:extLst>
          </a:blip>
          <a:srcRect l="30475" r="30475"/>
          <a:stretch/>
        </p:blipFill>
        <p:spPr>
          <a:xfrm>
            <a:off x="7468610" y="480053"/>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a:solidFill>
              <a:schemeClr val="accent2">
                <a:lumMod val="50000"/>
              </a:schemeClr>
            </a:solidFill>
          </a:ln>
          <a:effectLst>
            <a:glow rad="228600">
              <a:schemeClr val="accent2">
                <a:lumMod val="50000"/>
                <a:alpha val="40000"/>
              </a:schemeClr>
            </a:glow>
          </a:effectLst>
        </p:spPr>
      </p:pic>
    </p:spTree>
    <p:extLst>
      <p:ext uri="{BB962C8B-B14F-4D97-AF65-F5344CB8AC3E}">
        <p14:creationId xmlns:p14="http://schemas.microsoft.com/office/powerpoint/2010/main" val="12460212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26303"/>
            <a:ext cx="3931920" cy="741953"/>
          </a:xfrm>
        </p:spPr>
        <p:txBody>
          <a:bodyPr anchor="b" anchorCtr="0"/>
          <a:lstStyle/>
          <a:p>
            <a:r>
              <a:rPr lang="en-US" altLang="zh-CN" dirty="0"/>
              <a:t>Data Cleansing</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1795660"/>
            <a:ext cx="3931920" cy="3905532"/>
          </a:xfrm>
        </p:spPr>
        <p:txBody>
          <a:bodyPr>
            <a:normAutofit/>
          </a:bodyPr>
          <a:lstStyle/>
          <a:p>
            <a:pPr marL="0" indent="0">
              <a:buNone/>
            </a:pPr>
            <a:r>
              <a:rPr lang="en-US" sz="1600" dirty="0"/>
              <a:t>Data cleaning and preprocessing were performed to improve data quality and prepare the dataset for analysis. Missing values were handled, date columns were converted to the correct format, and text fields were standardized to remove inconsistencies. Additional features such as </a:t>
            </a:r>
            <a:r>
              <a:rPr lang="en-US" sz="1600" b="1" dirty="0"/>
              <a:t>Delivery Delay, Scheduled Days, Actual Days, Is Late, and Is Returned</a:t>
            </a:r>
            <a:r>
              <a:rPr lang="en-US" sz="1600" dirty="0"/>
              <a:t> were created to support analysis and prediction. Driver information was also completed using city-based mapping. These steps ensured the dataset was accurate, consistent, and ready for Business Intelligence dashboards, machine learning models, and clustering analysis.</a:t>
            </a: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5</a:t>
            </a:fld>
            <a:endParaRPr lang="en-US" altLang="zh-CN" noProof="0" dirty="0"/>
          </a:p>
        </p:txBody>
      </p:sp>
      <p:pic>
        <p:nvPicPr>
          <p:cNvPr id="7" name="Picture 6">
            <a:extLst>
              <a:ext uri="{FF2B5EF4-FFF2-40B4-BE49-F238E27FC236}">
                <a16:creationId xmlns:a16="http://schemas.microsoft.com/office/drawing/2014/main" id="{72393456-267C-DD1A-9CE4-EEFD825F91D5}"/>
              </a:ext>
            </a:extLst>
          </p:cNvPr>
          <p:cNvPicPr>
            <a:picLocks noChangeAspect="1"/>
          </p:cNvPicPr>
          <p:nvPr/>
        </p:nvPicPr>
        <p:blipFill>
          <a:blip r:embed="rId3"/>
          <a:stretch>
            <a:fillRect/>
          </a:stretch>
        </p:blipFill>
        <p:spPr>
          <a:xfrm>
            <a:off x="6537072" y="274955"/>
            <a:ext cx="5342420" cy="60704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75548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BFDD4-DA31-7B87-03D5-43712D0E8BA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FB4B15-A719-DC1C-F1F8-A80F2446235E}"/>
              </a:ext>
            </a:extLst>
          </p:cNvPr>
          <p:cNvSpPr>
            <a:spLocks noGrp="1"/>
          </p:cNvSpPr>
          <p:nvPr>
            <p:ph type="title"/>
          </p:nvPr>
        </p:nvSpPr>
        <p:spPr>
          <a:xfrm>
            <a:off x="914400" y="731520"/>
            <a:ext cx="4639506" cy="5049452"/>
          </a:xfrm>
        </p:spPr>
        <p:txBody>
          <a:bodyPr>
            <a:noAutofit/>
          </a:bodyPr>
          <a:lstStyle/>
          <a:p>
            <a:r>
              <a:rPr lang="en-US" sz="2400" dirty="0"/>
              <a:t>Operations Performance Dashboard Overview</a:t>
            </a:r>
            <a:br>
              <a:rPr lang="en-US" sz="1600" b="0" dirty="0"/>
            </a:br>
            <a:br>
              <a:rPr lang="en-US" sz="1600" b="0" dirty="0"/>
            </a:br>
            <a:br>
              <a:rPr lang="en-US" sz="1600" b="0" dirty="0"/>
            </a:br>
            <a:r>
              <a:rPr lang="en-US" sz="1800" b="0" dirty="0"/>
              <a:t>The Operations Performance Dashboard provides a high-level view of Fast Man’s delivery operations. It summarizes key performance indicators such as total orders, total revenue, success rate, average delay, on-time delivery rate, return rate, and late delivery rate. The dashboard also analyzes order status distribution, delivery performance trends over time, regional order volumes, and driver success rates. These insights help management monitor operational efficiency, evaluate delivery performance, and identify areas requiring improvement.</a:t>
            </a:r>
            <a:endParaRPr lang="en-US" sz="1600" b="0" dirty="0"/>
          </a:p>
        </p:txBody>
      </p:sp>
      <p:sp>
        <p:nvSpPr>
          <p:cNvPr id="6" name="Slide Number Placeholder 13">
            <a:extLst>
              <a:ext uri="{FF2B5EF4-FFF2-40B4-BE49-F238E27FC236}">
                <a16:creationId xmlns:a16="http://schemas.microsoft.com/office/drawing/2014/main" id="{28A269DF-2DEB-8DD7-6BF9-1B4556BC3DE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9AA24E98-C944-CDCD-BD6A-E73CCA591312}"/>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pic>
        <p:nvPicPr>
          <p:cNvPr id="5" name="Picture 4">
            <a:extLst>
              <a:ext uri="{FF2B5EF4-FFF2-40B4-BE49-F238E27FC236}">
                <a16:creationId xmlns:a16="http://schemas.microsoft.com/office/drawing/2014/main" id="{AFDB4DB1-B947-3E55-8836-AA9269251B15}"/>
              </a:ext>
            </a:extLst>
          </p:cNvPr>
          <p:cNvPicPr>
            <a:picLocks noChangeAspect="1"/>
          </p:cNvPicPr>
          <p:nvPr/>
        </p:nvPicPr>
        <p:blipFill>
          <a:blip r:embed="rId3"/>
          <a:stretch>
            <a:fillRect/>
          </a:stretch>
        </p:blipFill>
        <p:spPr>
          <a:xfrm>
            <a:off x="6038658" y="1038671"/>
            <a:ext cx="5429250" cy="30546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11164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59C3-5161-6F07-69E8-9BC9E4C517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A6150A-36CD-F983-1DDA-5228C6E2E7EF}"/>
              </a:ext>
            </a:extLst>
          </p:cNvPr>
          <p:cNvSpPr>
            <a:spLocks noGrp="1"/>
          </p:cNvSpPr>
          <p:nvPr>
            <p:ph type="title"/>
          </p:nvPr>
        </p:nvSpPr>
        <p:spPr>
          <a:xfrm>
            <a:off x="914400" y="731520"/>
            <a:ext cx="4559726" cy="5049452"/>
          </a:xfrm>
        </p:spPr>
        <p:txBody>
          <a:bodyPr>
            <a:noAutofit/>
          </a:bodyPr>
          <a:lstStyle/>
          <a:p>
            <a:r>
              <a:rPr lang="en-US" sz="2400" dirty="0"/>
              <a:t>Delay Analysis Dashboard Overview</a:t>
            </a:r>
            <a:br>
              <a:rPr lang="en-US" sz="1600" dirty="0"/>
            </a:br>
            <a:br>
              <a:rPr lang="en-US" sz="1600" dirty="0"/>
            </a:br>
            <a:br>
              <a:rPr lang="en-US" sz="1600" dirty="0"/>
            </a:br>
            <a:r>
              <a:rPr lang="en-US" sz="1600" b="0" dirty="0"/>
              <a:t>The Delay Analysis Dashboard focuses on understanding delivery delays across different operational dimensions. It analyzes delays by city, driver, sender location, delivery attempts, and time. The dashboard also categorizes delays into on-time, slight delay, and moderate delay groups to highlight the severity of delivery issues. By identifying the regions, drivers, and routes with the highest delays, the dashboard supports efforts to optimize delivery operations, reduce late shipments, and improve customer satisfaction.</a:t>
            </a:r>
          </a:p>
        </p:txBody>
      </p:sp>
      <p:sp>
        <p:nvSpPr>
          <p:cNvPr id="6" name="Slide Number Placeholder 13">
            <a:extLst>
              <a:ext uri="{FF2B5EF4-FFF2-40B4-BE49-F238E27FC236}">
                <a16:creationId xmlns:a16="http://schemas.microsoft.com/office/drawing/2014/main" id="{688C945A-695D-7DAD-B4D9-A38AF9C7EEB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F06B9B9-E06C-1142-5B93-4EDF1E352C44}"/>
              </a:ext>
            </a:extLst>
          </p:cNvPr>
          <p:cNvSpPr>
            <a:spLocks noGrp="1"/>
          </p:cNvSpPr>
          <p:nvPr>
            <p:ph type="sldNum" sz="quarter" idx="29"/>
          </p:nvPr>
        </p:nvSpPr>
        <p:spPr/>
        <p:txBody>
          <a:bodyPr/>
          <a:lstStyle/>
          <a:p>
            <a:fld id="{47FEACEE-25B4-4A2D-B147-27296E36371D}" type="slidenum">
              <a:rPr lang="en-US" altLang="zh-CN" noProof="0" smtClean="0"/>
              <a:pPr/>
              <a:t>7</a:t>
            </a:fld>
            <a:endParaRPr lang="en-US" altLang="zh-CN" noProof="0" dirty="0"/>
          </a:p>
        </p:txBody>
      </p:sp>
      <p:pic>
        <p:nvPicPr>
          <p:cNvPr id="7" name="Picture 6">
            <a:extLst>
              <a:ext uri="{FF2B5EF4-FFF2-40B4-BE49-F238E27FC236}">
                <a16:creationId xmlns:a16="http://schemas.microsoft.com/office/drawing/2014/main" id="{60C92ECD-A04F-5946-BA58-6F9A3D1C3B34}"/>
              </a:ext>
            </a:extLst>
          </p:cNvPr>
          <p:cNvPicPr>
            <a:picLocks noChangeAspect="1"/>
          </p:cNvPicPr>
          <p:nvPr/>
        </p:nvPicPr>
        <p:blipFill>
          <a:blip r:embed="rId3"/>
          <a:stretch>
            <a:fillRect/>
          </a:stretch>
        </p:blipFill>
        <p:spPr>
          <a:xfrm>
            <a:off x="5986926" y="934729"/>
            <a:ext cx="5436539" cy="3054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2427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0A378-874F-177C-0415-EF98EB57FB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D417C5-CB87-FA1F-6212-997A2E46B03E}"/>
              </a:ext>
            </a:extLst>
          </p:cNvPr>
          <p:cNvSpPr>
            <a:spLocks noGrp="1"/>
          </p:cNvSpPr>
          <p:nvPr>
            <p:ph type="title"/>
          </p:nvPr>
        </p:nvSpPr>
        <p:spPr>
          <a:xfrm>
            <a:off x="914400" y="731520"/>
            <a:ext cx="4639506" cy="5049452"/>
          </a:xfrm>
        </p:spPr>
        <p:txBody>
          <a:bodyPr>
            <a:noAutofit/>
          </a:bodyPr>
          <a:lstStyle/>
          <a:p>
            <a:r>
              <a:rPr lang="en-US" sz="2400" dirty="0"/>
              <a:t>Route Optimization Dashboard Overview</a:t>
            </a:r>
            <a:br>
              <a:rPr lang="en-US" sz="1800" b="0" dirty="0"/>
            </a:br>
            <a:br>
              <a:rPr lang="en-US" sz="1800" b="0" dirty="0"/>
            </a:br>
            <a:br>
              <a:rPr lang="en-US" sz="1800" b="0" dirty="0"/>
            </a:br>
            <a:r>
              <a:rPr lang="en-US" sz="1800" b="0" dirty="0"/>
              <a:t>The Route Optimization Dashboard analyzes delivery performance across different sender and destination cities. It uses a heatmap to highlight average delivery delays between routes and a trend chart to compare routes based on their delay levels. This dashboard helps identify inefficient delivery routes, detect areas with recurring delays, and support route planning decisions that improve delivery speed and operational efficiency.</a:t>
            </a:r>
          </a:p>
        </p:txBody>
      </p:sp>
      <p:sp>
        <p:nvSpPr>
          <p:cNvPr id="6" name="Slide Number Placeholder 13">
            <a:extLst>
              <a:ext uri="{FF2B5EF4-FFF2-40B4-BE49-F238E27FC236}">
                <a16:creationId xmlns:a16="http://schemas.microsoft.com/office/drawing/2014/main" id="{6BF31185-12E3-99CB-C7EE-4C4420D92B47}"/>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6E2B8C9-5B92-753B-8EE5-620153E83F78}"/>
              </a:ext>
            </a:extLst>
          </p:cNvPr>
          <p:cNvSpPr>
            <a:spLocks noGrp="1"/>
          </p:cNvSpPr>
          <p:nvPr>
            <p:ph type="sldNum" sz="quarter" idx="29"/>
          </p:nvPr>
        </p:nvSpPr>
        <p:spPr/>
        <p:txBody>
          <a:bodyPr/>
          <a:lstStyle/>
          <a:p>
            <a:fld id="{47FEACEE-25B4-4A2D-B147-27296E36371D}" type="slidenum">
              <a:rPr lang="en-US" altLang="zh-CN" noProof="0" smtClean="0"/>
              <a:pPr/>
              <a:t>8</a:t>
            </a:fld>
            <a:endParaRPr lang="en-US" altLang="zh-CN" noProof="0" dirty="0"/>
          </a:p>
        </p:txBody>
      </p:sp>
      <p:pic>
        <p:nvPicPr>
          <p:cNvPr id="5" name="Picture 4">
            <a:extLst>
              <a:ext uri="{FF2B5EF4-FFF2-40B4-BE49-F238E27FC236}">
                <a16:creationId xmlns:a16="http://schemas.microsoft.com/office/drawing/2014/main" id="{3CF52785-860B-B558-2B23-C8BC1F89B300}"/>
              </a:ext>
            </a:extLst>
          </p:cNvPr>
          <p:cNvPicPr>
            <a:picLocks noChangeAspect="1"/>
          </p:cNvPicPr>
          <p:nvPr/>
        </p:nvPicPr>
        <p:blipFill>
          <a:blip r:embed="rId3"/>
          <a:stretch>
            <a:fillRect/>
          </a:stretch>
        </p:blipFill>
        <p:spPr>
          <a:xfrm>
            <a:off x="5911256" y="874733"/>
            <a:ext cx="5435896" cy="3054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14373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3B8AD-DDAD-8905-A22F-8DF2DF660BA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E56E4C4-149D-07A2-D4CA-2FB36F672B0F}"/>
              </a:ext>
            </a:extLst>
          </p:cNvPr>
          <p:cNvSpPr>
            <a:spLocks noGrp="1"/>
          </p:cNvSpPr>
          <p:nvPr>
            <p:ph type="title"/>
          </p:nvPr>
        </p:nvSpPr>
        <p:spPr>
          <a:xfrm>
            <a:off x="914400" y="731520"/>
            <a:ext cx="4639506" cy="5049452"/>
          </a:xfrm>
        </p:spPr>
        <p:txBody>
          <a:bodyPr>
            <a:noAutofit/>
          </a:bodyPr>
          <a:lstStyle/>
          <a:p>
            <a:r>
              <a:rPr lang="en-US" sz="2400" dirty="0"/>
              <a:t>Return Analysis Dashboard Overview</a:t>
            </a:r>
            <a:br>
              <a:rPr lang="en-US" sz="2400" dirty="0"/>
            </a:br>
            <a:br>
              <a:rPr lang="en-US" sz="2400" dirty="0"/>
            </a:br>
            <a:r>
              <a:rPr lang="en-US" sz="1800" b="0" dirty="0"/>
              <a:t>The Return Analysis Dashboard focuses on understanding returned orders and failed deliveries. It analyzes the main reasons for delivery failure, return rates by region, driver return performance, delivery attempts, payment methods, and return trends over time. These insights help the company identify the root causes of returns, reduce failed deliveries, improve customer communication, and minimize revenue losses associated with returned orders.</a:t>
            </a:r>
            <a:endParaRPr lang="en-US" sz="2400" b="0" dirty="0"/>
          </a:p>
        </p:txBody>
      </p:sp>
      <p:sp>
        <p:nvSpPr>
          <p:cNvPr id="6" name="Slide Number Placeholder 13">
            <a:extLst>
              <a:ext uri="{FF2B5EF4-FFF2-40B4-BE49-F238E27FC236}">
                <a16:creationId xmlns:a16="http://schemas.microsoft.com/office/drawing/2014/main" id="{16D37E50-9FD0-FF78-70DE-1AB294220F6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45F4C10-0536-DC8E-57B6-1AE28288D72F}"/>
              </a:ext>
            </a:extLst>
          </p:cNvPr>
          <p:cNvSpPr>
            <a:spLocks noGrp="1"/>
          </p:cNvSpPr>
          <p:nvPr>
            <p:ph type="sldNum" sz="quarter" idx="29"/>
          </p:nvPr>
        </p:nvSpPr>
        <p:spPr/>
        <p:txBody>
          <a:bodyPr/>
          <a:lstStyle/>
          <a:p>
            <a:fld id="{47FEACEE-25B4-4A2D-B147-27296E36371D}" type="slidenum">
              <a:rPr lang="en-US" altLang="zh-CN" noProof="0" smtClean="0"/>
              <a:pPr/>
              <a:t>9</a:t>
            </a:fld>
            <a:endParaRPr lang="en-US" altLang="zh-CN" noProof="0" dirty="0"/>
          </a:p>
        </p:txBody>
      </p:sp>
      <p:pic>
        <p:nvPicPr>
          <p:cNvPr id="7" name="Picture 6">
            <a:extLst>
              <a:ext uri="{FF2B5EF4-FFF2-40B4-BE49-F238E27FC236}">
                <a16:creationId xmlns:a16="http://schemas.microsoft.com/office/drawing/2014/main" id="{0B7553AF-23A5-5125-162F-A1267EEB3C58}"/>
              </a:ext>
            </a:extLst>
          </p:cNvPr>
          <p:cNvPicPr>
            <a:picLocks noChangeAspect="1"/>
          </p:cNvPicPr>
          <p:nvPr/>
        </p:nvPicPr>
        <p:blipFill>
          <a:blip r:embed="rId3"/>
          <a:stretch>
            <a:fillRect/>
          </a:stretch>
        </p:blipFill>
        <p:spPr>
          <a:xfrm>
            <a:off x="5988540" y="907334"/>
            <a:ext cx="5434925" cy="3054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463949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08247-BDCE-7624-EDEF-8EF7BA3AE28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96E873-196B-21E0-3DE9-4EB26B6C5B63}"/>
              </a:ext>
            </a:extLst>
          </p:cNvPr>
          <p:cNvSpPr>
            <a:spLocks noGrp="1"/>
          </p:cNvSpPr>
          <p:nvPr>
            <p:ph type="title"/>
          </p:nvPr>
        </p:nvSpPr>
        <p:spPr>
          <a:xfrm>
            <a:off x="914400" y="731520"/>
            <a:ext cx="4639506" cy="5049452"/>
          </a:xfrm>
        </p:spPr>
        <p:txBody>
          <a:bodyPr>
            <a:noAutofit/>
          </a:bodyPr>
          <a:lstStyle/>
          <a:p>
            <a:r>
              <a:rPr lang="en-US" sz="2400" dirty="0"/>
              <a:t>Risk Analysis Dashboard Overview</a:t>
            </a:r>
            <a:br>
              <a:rPr lang="en-US" sz="2400" dirty="0"/>
            </a:br>
            <a:br>
              <a:rPr lang="en-US" sz="2400" dirty="0"/>
            </a:br>
            <a:r>
              <a:rPr lang="en-US" sz="1800" b="0" dirty="0"/>
              <a:t>The Risk Analysis Dashboard evaluates operational risks by combining return rates, delivery delays, customer behavior, and financial impact. It includes risk scores by region, status distribution, late versus return rate analysis, driver risk assessment, lost revenue by driver, and customer-level risk metrics. This dashboard helps management identify high-risk regions, customers, and drivers, allowing proactive actions to reduce losses, improve delivery performance, and enhance overall operational reliability.</a:t>
            </a:r>
            <a:endParaRPr lang="en-US" sz="2400" b="0" dirty="0"/>
          </a:p>
        </p:txBody>
      </p:sp>
      <p:sp>
        <p:nvSpPr>
          <p:cNvPr id="6" name="Slide Number Placeholder 13">
            <a:extLst>
              <a:ext uri="{FF2B5EF4-FFF2-40B4-BE49-F238E27FC236}">
                <a16:creationId xmlns:a16="http://schemas.microsoft.com/office/drawing/2014/main" id="{327590AF-54E7-AA1E-559B-F6DC8452CF5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DB3A9B25-37DD-A480-65EB-D1270BC827DD}"/>
              </a:ext>
            </a:extLst>
          </p:cNvPr>
          <p:cNvSpPr>
            <a:spLocks noGrp="1"/>
          </p:cNvSpPr>
          <p:nvPr>
            <p:ph type="sldNum" sz="quarter" idx="29"/>
          </p:nvPr>
        </p:nvSpPr>
        <p:spPr/>
        <p:txBody>
          <a:bodyPr/>
          <a:lstStyle/>
          <a:p>
            <a:fld id="{47FEACEE-25B4-4A2D-B147-27296E36371D}" type="slidenum">
              <a:rPr lang="en-US" altLang="zh-CN" noProof="0" smtClean="0"/>
              <a:pPr/>
              <a:t>10</a:t>
            </a:fld>
            <a:endParaRPr lang="en-US" altLang="zh-CN" noProof="0" dirty="0"/>
          </a:p>
        </p:txBody>
      </p:sp>
      <p:pic>
        <p:nvPicPr>
          <p:cNvPr id="5" name="Picture 4">
            <a:extLst>
              <a:ext uri="{FF2B5EF4-FFF2-40B4-BE49-F238E27FC236}">
                <a16:creationId xmlns:a16="http://schemas.microsoft.com/office/drawing/2014/main" id="{67AA1095-8EB6-A8C4-945C-23C94C74847C}"/>
              </a:ext>
            </a:extLst>
          </p:cNvPr>
          <p:cNvPicPr>
            <a:picLocks noChangeAspect="1"/>
          </p:cNvPicPr>
          <p:nvPr/>
        </p:nvPicPr>
        <p:blipFill>
          <a:blip r:embed="rId3"/>
          <a:stretch>
            <a:fillRect/>
          </a:stretch>
        </p:blipFill>
        <p:spPr>
          <a:xfrm>
            <a:off x="6143987" y="890811"/>
            <a:ext cx="5436093" cy="30540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34932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4670-248F-7E15-C5B4-923F218CF3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EC38E-8ACA-FD77-4393-E12B9F2299CA}"/>
              </a:ext>
            </a:extLst>
          </p:cNvPr>
          <p:cNvSpPr>
            <a:spLocks noGrp="1"/>
          </p:cNvSpPr>
          <p:nvPr>
            <p:ph type="title"/>
          </p:nvPr>
        </p:nvSpPr>
        <p:spPr>
          <a:xfrm>
            <a:off x="1335544" y="1960743"/>
            <a:ext cx="4881148" cy="4133212"/>
          </a:xfrm>
        </p:spPr>
        <p:txBody>
          <a:bodyPr lIns="0" anchor="t" anchorCtr="0">
            <a:noAutofit/>
          </a:bodyPr>
          <a:lstStyle/>
          <a:p>
            <a:r>
              <a:rPr lang="en-US" sz="1800" b="0" dirty="0"/>
              <a:t>The prediction models were developed in KNIME to forecast delivery outcomes. The dataset was loaded, relevant features were selected, and numerical values were normalized. The data was then split into training and testing sets using the Table Partitioner. Two models, Logistic Regression and Random Forest, were trained and used to generate predictions on the test data. Finally, the Scorer node evaluated model performance using metrics such as accuracy, precision, recall, and F-measure. Random Forest achieved the best overall performance.</a:t>
            </a:r>
          </a:p>
        </p:txBody>
      </p:sp>
      <p:sp>
        <p:nvSpPr>
          <p:cNvPr id="3" name="Text Placeholder 2">
            <a:extLst>
              <a:ext uri="{FF2B5EF4-FFF2-40B4-BE49-F238E27FC236}">
                <a16:creationId xmlns:a16="http://schemas.microsoft.com/office/drawing/2014/main" id="{1A8DC792-3109-467E-AD3A-B3FF504F65CD}"/>
              </a:ext>
            </a:extLst>
          </p:cNvPr>
          <p:cNvSpPr>
            <a:spLocks noGrp="1"/>
          </p:cNvSpPr>
          <p:nvPr>
            <p:ph type="body" sz="quarter" idx="28"/>
          </p:nvPr>
        </p:nvSpPr>
        <p:spPr>
          <a:xfrm>
            <a:off x="1066800" y="822654"/>
            <a:ext cx="5029200" cy="760288"/>
          </a:xfrm>
        </p:spPr>
        <p:txBody>
          <a:bodyPr anchor="b" anchorCtr="0">
            <a:normAutofit/>
          </a:bodyPr>
          <a:lstStyle/>
          <a:p>
            <a:r>
              <a:rPr lang="en-US" sz="2800" b="1" dirty="0"/>
              <a:t>Prediction Process</a:t>
            </a:r>
          </a:p>
        </p:txBody>
      </p:sp>
      <p:pic>
        <p:nvPicPr>
          <p:cNvPr id="7" name="Picture 6">
            <a:extLst>
              <a:ext uri="{FF2B5EF4-FFF2-40B4-BE49-F238E27FC236}">
                <a16:creationId xmlns:a16="http://schemas.microsoft.com/office/drawing/2014/main" id="{AF5F1B6A-2F45-E149-4083-C73BD51E1F32}"/>
              </a:ext>
            </a:extLst>
          </p:cNvPr>
          <p:cNvPicPr>
            <a:picLocks noChangeAspect="1"/>
          </p:cNvPicPr>
          <p:nvPr/>
        </p:nvPicPr>
        <p:blipFill>
          <a:blip r:embed="rId2"/>
          <a:stretch>
            <a:fillRect/>
          </a:stretch>
        </p:blipFill>
        <p:spPr>
          <a:xfrm>
            <a:off x="6837031" y="1517073"/>
            <a:ext cx="5120675" cy="266676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908083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395C9-3C2B-F20D-E5DD-5A3C6E1102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73F293F-165F-3E55-B702-9EEFD106E57B}"/>
              </a:ext>
            </a:extLst>
          </p:cNvPr>
          <p:cNvSpPr>
            <a:spLocks noGrp="1"/>
          </p:cNvSpPr>
          <p:nvPr>
            <p:ph type="title"/>
          </p:nvPr>
        </p:nvSpPr>
        <p:spPr>
          <a:xfrm>
            <a:off x="482311" y="357168"/>
            <a:ext cx="5758929" cy="5049452"/>
          </a:xfrm>
        </p:spPr>
        <p:txBody>
          <a:bodyPr>
            <a:noAutofit/>
          </a:bodyPr>
          <a:lstStyle/>
          <a:p>
            <a:r>
              <a:rPr lang="en-US" sz="1600" dirty="0"/>
              <a:t>Logistic Regression Results:</a:t>
            </a:r>
            <a:br>
              <a:rPr lang="en-US" sz="1800" dirty="0"/>
            </a:br>
            <a:r>
              <a:rPr lang="en-US" sz="1200" b="0" dirty="0"/>
              <a:t>Accuracy: 73.9% </a:t>
            </a:r>
            <a:br>
              <a:rPr lang="en-US" sz="1200" b="0" dirty="0"/>
            </a:br>
            <a:r>
              <a:rPr lang="en-US" sz="1200" b="0" dirty="0"/>
              <a:t>Precision: 92.0% </a:t>
            </a:r>
            <a:br>
              <a:rPr lang="en-US" sz="1200" b="0" dirty="0"/>
            </a:br>
            <a:r>
              <a:rPr lang="en-US" sz="1200" b="0" dirty="0"/>
              <a:t>Recall (Sensitivity): 72.9% </a:t>
            </a:r>
            <a:br>
              <a:rPr lang="en-US" sz="1200" b="0" dirty="0"/>
            </a:br>
            <a:r>
              <a:rPr lang="en-US" sz="1200" b="0" dirty="0"/>
              <a:t>Specificity: 77.3% </a:t>
            </a:r>
            <a:br>
              <a:rPr lang="en-US" sz="1200" b="0" dirty="0"/>
            </a:br>
            <a:r>
              <a:rPr lang="en-US" sz="1200" b="0" dirty="0"/>
              <a:t>F-Measure: 81.3% </a:t>
            </a:r>
            <a:br>
              <a:rPr lang="en-US" sz="1200" b="0" dirty="0"/>
            </a:br>
            <a:br>
              <a:rPr lang="en-US" sz="1600" dirty="0"/>
            </a:br>
            <a:r>
              <a:rPr lang="en-US" sz="1400" dirty="0"/>
              <a:t>Explanation:</a:t>
            </a:r>
            <a:r>
              <a:rPr lang="en-US" sz="1800" dirty="0"/>
              <a:t> </a:t>
            </a:r>
            <a:r>
              <a:rPr lang="en-US" sz="1200" b="0" dirty="0"/>
              <a:t>Logistic Regression achieved strong precision, meaning it was very effective at correctly identifying customers who would respond positively to the campaign. However, its overall accuracy and recall were lower than Random Forest, indicating that some potential responders were missed.</a:t>
            </a:r>
            <a:br>
              <a:rPr lang="en-US" sz="2400" dirty="0"/>
            </a:br>
            <a:br>
              <a:rPr lang="en-US" sz="2400" dirty="0"/>
            </a:br>
            <a:r>
              <a:rPr lang="en-US" sz="1600" dirty="0"/>
              <a:t>Random Forest Results</a:t>
            </a:r>
            <a:br>
              <a:rPr lang="en-US" sz="1800" dirty="0"/>
            </a:br>
            <a:r>
              <a:rPr lang="en-US" sz="1200" b="0" dirty="0"/>
              <a:t>Accuracy: 77.5% </a:t>
            </a:r>
            <a:br>
              <a:rPr lang="en-US" sz="1200" b="0" dirty="0"/>
            </a:br>
            <a:r>
              <a:rPr lang="en-US" sz="1200" b="0" dirty="0"/>
              <a:t>Precision: 91.7% </a:t>
            </a:r>
            <a:br>
              <a:rPr lang="en-US" sz="1200" b="0" dirty="0"/>
            </a:br>
            <a:r>
              <a:rPr lang="en-US" sz="1200" b="0" dirty="0"/>
              <a:t>Recall (Sensitivity): 76.6% </a:t>
            </a:r>
            <a:br>
              <a:rPr lang="en-US" sz="1200" b="0" dirty="0"/>
            </a:br>
            <a:r>
              <a:rPr lang="en-US" sz="1200" b="0" dirty="0"/>
              <a:t>Specificity: 80.1% </a:t>
            </a:r>
            <a:br>
              <a:rPr lang="en-US" sz="1200" b="0" dirty="0"/>
            </a:br>
            <a:r>
              <a:rPr lang="en-US" sz="1200" b="0" dirty="0"/>
              <a:t>F-Measure: 83.5% </a:t>
            </a:r>
            <a:br>
              <a:rPr lang="en-US" sz="1800" dirty="0"/>
            </a:br>
            <a:r>
              <a:rPr lang="en-US" sz="1400" dirty="0"/>
              <a:t>Explanation:</a:t>
            </a:r>
            <a:r>
              <a:rPr lang="en-US" sz="2000" dirty="0"/>
              <a:t> </a:t>
            </a:r>
            <a:r>
              <a:rPr lang="en-US" sz="1200" b="0" dirty="0"/>
              <a:t>Random Forest achieved higher accuracy, recall, specificity, and F-measure compared to Logistic Regression. This indicates a better overall ability to correctly classify both responding and non-responding customers while reducing prediction errors.</a:t>
            </a:r>
            <a:br>
              <a:rPr lang="en-US" sz="2800" dirty="0"/>
            </a:br>
            <a:br>
              <a:rPr lang="en-US" sz="2400" dirty="0"/>
            </a:br>
            <a:r>
              <a:rPr lang="en-US" sz="1600" dirty="0"/>
              <a:t>Winning Model: Random Forest </a:t>
            </a:r>
            <a:br>
              <a:rPr lang="en-US" sz="1400" dirty="0"/>
            </a:br>
            <a:r>
              <a:rPr lang="en-US" sz="1200" b="0" dirty="0"/>
              <a:t>Highest accuracy (77.5%) </a:t>
            </a:r>
            <a:br>
              <a:rPr lang="en-US" sz="1200" b="0" dirty="0"/>
            </a:br>
            <a:r>
              <a:rPr lang="en-US" sz="1200" b="0" dirty="0"/>
              <a:t>Better recall and specificity </a:t>
            </a:r>
            <a:br>
              <a:rPr lang="en-US" sz="1200" b="0" dirty="0"/>
            </a:br>
            <a:r>
              <a:rPr lang="en-US" sz="1200" b="0" dirty="0"/>
              <a:t>Highest F-measure (83.5%) </a:t>
            </a:r>
            <a:br>
              <a:rPr lang="en-US" sz="2400" dirty="0"/>
            </a:br>
            <a:r>
              <a:rPr lang="en-US" sz="1200" b="0" dirty="0"/>
              <a:t>More effective at capturing complex customer behavior patterns </a:t>
            </a:r>
            <a:br>
              <a:rPr lang="en-US" sz="1200" b="0" dirty="0"/>
            </a:br>
            <a:br>
              <a:rPr lang="en-US" sz="1200" b="0" dirty="0"/>
            </a:br>
            <a:r>
              <a:rPr lang="en-US" sz="1400" dirty="0"/>
              <a:t>Business Impact: </a:t>
            </a:r>
            <a:r>
              <a:rPr lang="en-US" sz="1200" b="0" dirty="0"/>
              <a:t>Random Forest provides more reliable customer response predictions, helping businesses improve campaign targeting, reduce marketing costs, and increase conversion rates.</a:t>
            </a:r>
            <a:br>
              <a:rPr lang="en-US" sz="2400" dirty="0"/>
            </a:br>
            <a:endParaRPr lang="en-US" sz="2400" dirty="0"/>
          </a:p>
        </p:txBody>
      </p:sp>
      <p:sp>
        <p:nvSpPr>
          <p:cNvPr id="6" name="Slide Number Placeholder 13">
            <a:extLst>
              <a:ext uri="{FF2B5EF4-FFF2-40B4-BE49-F238E27FC236}">
                <a16:creationId xmlns:a16="http://schemas.microsoft.com/office/drawing/2014/main" id="{F98111D2-F267-7609-957E-EABD0FC6D73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70288A53-8636-04FA-3B0C-9C79558BD1F8}"/>
              </a:ext>
            </a:extLst>
          </p:cNvPr>
          <p:cNvSpPr>
            <a:spLocks noGrp="1"/>
          </p:cNvSpPr>
          <p:nvPr>
            <p:ph type="sldNum" sz="quarter" idx="29"/>
          </p:nvPr>
        </p:nvSpPr>
        <p:spPr/>
        <p:txBody>
          <a:bodyPr/>
          <a:lstStyle/>
          <a:p>
            <a:fld id="{47FEACEE-25B4-4A2D-B147-27296E36371D}" type="slidenum">
              <a:rPr lang="en-US" altLang="zh-CN" noProof="0" smtClean="0"/>
              <a:pPr/>
              <a:t>12</a:t>
            </a:fld>
            <a:endParaRPr lang="en-US" altLang="zh-CN" noProof="0" dirty="0"/>
          </a:p>
        </p:txBody>
      </p:sp>
      <p:pic>
        <p:nvPicPr>
          <p:cNvPr id="9" name="Picture 8">
            <a:extLst>
              <a:ext uri="{FF2B5EF4-FFF2-40B4-BE49-F238E27FC236}">
                <a16:creationId xmlns:a16="http://schemas.microsoft.com/office/drawing/2014/main" id="{50D1A41D-62E2-3962-9AA6-8B37149E107E}"/>
              </a:ext>
            </a:extLst>
          </p:cNvPr>
          <p:cNvPicPr>
            <a:picLocks noChangeAspect="1"/>
          </p:cNvPicPr>
          <p:nvPr/>
        </p:nvPicPr>
        <p:blipFill>
          <a:blip r:embed="rId3"/>
          <a:srcRect b="10417"/>
          <a:stretch>
            <a:fillRect/>
          </a:stretch>
        </p:blipFill>
        <p:spPr>
          <a:xfrm>
            <a:off x="7253830" y="2710117"/>
            <a:ext cx="4611329" cy="12850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29565776-CB5D-126E-6374-E834CC4E1B17}"/>
              </a:ext>
            </a:extLst>
          </p:cNvPr>
          <p:cNvPicPr>
            <a:picLocks noChangeAspect="1"/>
          </p:cNvPicPr>
          <p:nvPr/>
        </p:nvPicPr>
        <p:blipFill>
          <a:blip r:embed="rId4"/>
          <a:stretch>
            <a:fillRect/>
          </a:stretch>
        </p:blipFill>
        <p:spPr>
          <a:xfrm>
            <a:off x="7253830" y="813805"/>
            <a:ext cx="4611329" cy="13341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305238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A605-2F33-B0A7-68B0-79F83C00B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1DAEA-01E2-73EF-71F9-5657A21F8E39}"/>
              </a:ext>
            </a:extLst>
          </p:cNvPr>
          <p:cNvSpPr>
            <a:spLocks noGrp="1"/>
          </p:cNvSpPr>
          <p:nvPr>
            <p:ph type="title"/>
          </p:nvPr>
        </p:nvSpPr>
        <p:spPr>
          <a:xfrm>
            <a:off x="1335544" y="1960743"/>
            <a:ext cx="4881148" cy="4133212"/>
          </a:xfrm>
        </p:spPr>
        <p:txBody>
          <a:bodyPr lIns="0" anchor="t" anchorCtr="0">
            <a:noAutofit/>
          </a:bodyPr>
          <a:lstStyle/>
          <a:p>
            <a:r>
              <a:rPr lang="en-US" sz="1600" b="0" dirty="0"/>
              <a:t>The clustering model was developed in KNIME using the K-Means algorithm to group similar deliveries based on their characteristics. The dataset was loaded using the Excel Reader, relevant variables were selected through the Column Filter, and numerical values were standardized using the Normalizer. The K-Means node then analyzed the data and divided records into distinct clusters based on similarity patterns. The Cluster Assigner assigned each record to its corresponding cluster, while the Color Manager and Bar Chart were used to visualize the cluster distribution. This process helped identify different delivery behavior groups and supported targeted operational strategies.</a:t>
            </a:r>
          </a:p>
        </p:txBody>
      </p:sp>
      <p:sp>
        <p:nvSpPr>
          <p:cNvPr id="3" name="Text Placeholder 2">
            <a:extLst>
              <a:ext uri="{FF2B5EF4-FFF2-40B4-BE49-F238E27FC236}">
                <a16:creationId xmlns:a16="http://schemas.microsoft.com/office/drawing/2014/main" id="{FABAEF5A-C460-2973-5724-B0F47887B1E4}"/>
              </a:ext>
            </a:extLst>
          </p:cNvPr>
          <p:cNvSpPr>
            <a:spLocks noGrp="1"/>
          </p:cNvSpPr>
          <p:nvPr>
            <p:ph type="body" sz="quarter" idx="28"/>
          </p:nvPr>
        </p:nvSpPr>
        <p:spPr>
          <a:xfrm>
            <a:off x="1066800" y="822654"/>
            <a:ext cx="5029200" cy="760288"/>
          </a:xfrm>
        </p:spPr>
        <p:txBody>
          <a:bodyPr anchor="b" anchorCtr="0">
            <a:normAutofit/>
          </a:bodyPr>
          <a:lstStyle/>
          <a:p>
            <a:r>
              <a:rPr lang="en-US" sz="2800" b="1" dirty="0"/>
              <a:t>Clustering Analysis</a:t>
            </a:r>
          </a:p>
        </p:txBody>
      </p:sp>
      <p:pic>
        <p:nvPicPr>
          <p:cNvPr id="5" name="Picture 4">
            <a:extLst>
              <a:ext uri="{FF2B5EF4-FFF2-40B4-BE49-F238E27FC236}">
                <a16:creationId xmlns:a16="http://schemas.microsoft.com/office/drawing/2014/main" id="{3B6C1EF9-7295-4CC8-3C09-5DA1357B302A}"/>
              </a:ext>
            </a:extLst>
          </p:cNvPr>
          <p:cNvPicPr>
            <a:picLocks noChangeAspect="1"/>
          </p:cNvPicPr>
          <p:nvPr/>
        </p:nvPicPr>
        <p:blipFill>
          <a:blip r:embed="rId2"/>
          <a:stretch>
            <a:fillRect/>
          </a:stretch>
        </p:blipFill>
        <p:spPr>
          <a:xfrm>
            <a:off x="6972063" y="1582942"/>
            <a:ext cx="5008047" cy="244440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661167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251959" y="378034"/>
            <a:ext cx="4425319" cy="3108960"/>
          </a:xfrm>
        </p:spPr>
        <p:txBody>
          <a:bodyPr>
            <a:normAutofit fontScale="92500"/>
          </a:bodyPr>
          <a:lstStyle/>
          <a:p>
            <a:pPr marL="0" indent="0">
              <a:buNone/>
            </a:pPr>
            <a:r>
              <a:rPr lang="en-US" sz="2100" b="1" dirty="0">
                <a:latin typeface="+mj-lt"/>
              </a:rPr>
              <a:t>Cluster 2 – Stable Deliveries </a:t>
            </a:r>
            <a:r>
              <a:rPr lang="en-US" sz="1300" b="1" dirty="0">
                <a:latin typeface="+mj-lt"/>
              </a:rPr>
              <a:t>(2,407)</a:t>
            </a:r>
          </a:p>
          <a:p>
            <a:pPr marL="0" indent="0">
              <a:buNone/>
            </a:pPr>
            <a:r>
              <a:rPr lang="en-US" sz="1400" dirty="0">
                <a:latin typeface="+mj-lt"/>
              </a:rPr>
              <a:t>Largest cluster with low delays and low return rates </a:t>
            </a:r>
          </a:p>
          <a:p>
            <a:pPr marL="0" indent="0">
              <a:buNone/>
            </a:pPr>
            <a:r>
              <a:rPr lang="en-US" sz="1400" dirty="0">
                <a:latin typeface="+mj-lt"/>
              </a:rPr>
              <a:t>Represents normal and efficient delivery operations </a:t>
            </a:r>
          </a:p>
          <a:p>
            <a:pPr marL="0" indent="0">
              <a:buNone/>
            </a:pPr>
            <a:r>
              <a:rPr lang="en-US" b="1" dirty="0">
                <a:latin typeface="+mj-lt"/>
              </a:rPr>
              <a:t>Strategy:</a:t>
            </a:r>
            <a:endParaRPr lang="en-US" dirty="0">
              <a:latin typeface="+mj-lt"/>
            </a:endParaRPr>
          </a:p>
          <a:p>
            <a:pPr marL="0" indent="0">
              <a:buNone/>
            </a:pPr>
            <a:r>
              <a:rPr lang="en-US" sz="1300" dirty="0">
                <a:latin typeface="+mj-lt"/>
              </a:rPr>
              <a:t>Maintain service quality </a:t>
            </a:r>
          </a:p>
          <a:p>
            <a:pPr marL="0" indent="0">
              <a:buNone/>
            </a:pPr>
            <a:r>
              <a:rPr lang="en-US" sz="1300" dirty="0">
                <a:latin typeface="+mj-lt"/>
              </a:rPr>
              <a:t>Focus on customer retention </a:t>
            </a:r>
          </a:p>
          <a:p>
            <a:pPr marL="0" indent="0">
              <a:buNone/>
            </a:pPr>
            <a:r>
              <a:rPr lang="en-US" sz="1300" dirty="0">
                <a:latin typeface="+mj-lt"/>
              </a:rPr>
              <a:t>Improve efficiency through automation and route optimization</a:t>
            </a:r>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14</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7" name="Text Placeholder 13">
            <a:extLst>
              <a:ext uri="{FF2B5EF4-FFF2-40B4-BE49-F238E27FC236}">
                <a16:creationId xmlns:a16="http://schemas.microsoft.com/office/drawing/2014/main" id="{CC222520-C032-347D-39B1-AB00FF5D0CDF}"/>
              </a:ext>
            </a:extLst>
          </p:cNvPr>
          <p:cNvSpPr txBox="1">
            <a:spLocks/>
          </p:cNvSpPr>
          <p:nvPr/>
        </p:nvSpPr>
        <p:spPr>
          <a:xfrm>
            <a:off x="7769332" y="1564300"/>
            <a:ext cx="4320386" cy="3067664"/>
          </a:xfrm>
          <a:prstGeom prst="rect">
            <a:avLst/>
          </a:prstGeom>
        </p:spPr>
        <p:txBody>
          <a:bodyPr vert="horz" lIns="91440" tIns="45720" rIns="91440" bIns="45720" rtlCol="0">
            <a:normAutofit/>
          </a:bodyPr>
          <a:lstStyle>
            <a:lvl1pPr marL="512064" indent="-512064" algn="l" defTabSz="914400" rtl="0" eaLnBrk="1" latinLnBrk="0" hangingPunct="1">
              <a:lnSpc>
                <a:spcPct val="90000"/>
              </a:lnSpc>
              <a:spcBef>
                <a:spcPts val="1500"/>
              </a:spcBef>
              <a:buFont typeface="+mj-lt"/>
              <a:buAutoNum type="arabicPeriod"/>
              <a:defRPr sz="1800" kern="1200">
                <a:solidFill>
                  <a:schemeClr val="bg1"/>
                </a:solidFill>
                <a:latin typeface="+mn-lt"/>
                <a:ea typeface="+mn-ea"/>
                <a:cs typeface="+mn-cs"/>
              </a:defRPr>
            </a:lvl1pPr>
            <a:lvl2pPr marL="1097280" indent="-512064" algn="l" defTabSz="914400" rtl="0" eaLnBrk="1" latinLnBrk="0" hangingPunct="1">
              <a:lnSpc>
                <a:spcPct val="90000"/>
              </a:lnSpc>
              <a:spcBef>
                <a:spcPts val="1500"/>
              </a:spcBef>
              <a:buFont typeface="+mj-lt"/>
              <a:buAutoNum type="alphaLcPeriod"/>
              <a:defRPr sz="1800" kern="1200">
                <a:solidFill>
                  <a:schemeClr val="bg1"/>
                </a:solidFill>
                <a:latin typeface="+mn-lt"/>
                <a:ea typeface="+mn-ea"/>
                <a:cs typeface="+mn-cs"/>
              </a:defRPr>
            </a:lvl2pPr>
            <a:lvl3pPr marL="1645920" indent="-512064" algn="l" defTabSz="914400" rtl="0" eaLnBrk="1" latinLnBrk="0" hangingPunct="1">
              <a:lnSpc>
                <a:spcPct val="90000"/>
              </a:lnSpc>
              <a:spcBef>
                <a:spcPts val="1500"/>
              </a:spcBef>
              <a:buFont typeface="+mj-lt"/>
              <a:buAutoNum type="romanLcPeriod"/>
              <a:defRPr sz="1800" kern="1200">
                <a:solidFill>
                  <a:schemeClr val="bg1"/>
                </a:solidFill>
                <a:latin typeface="+mn-lt"/>
                <a:ea typeface="+mn-ea"/>
                <a:cs typeface="+mn-cs"/>
              </a:defRPr>
            </a:lvl3pPr>
            <a:lvl4pPr marL="2194560" indent="-512064" algn="l" defTabSz="914400" rtl="0" eaLnBrk="1" latinLnBrk="0" hangingPunct="1">
              <a:lnSpc>
                <a:spcPct val="90000"/>
              </a:lnSpc>
              <a:spcBef>
                <a:spcPts val="1500"/>
              </a:spcBef>
              <a:buFont typeface="+mj-lt"/>
              <a:buAutoNum type="arabicParen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US" sz="2100" b="1" dirty="0">
                <a:latin typeface="+mj-lt"/>
              </a:rPr>
              <a:t>Cluster 1 – Moderate Risk Deliveries </a:t>
            </a:r>
            <a:r>
              <a:rPr lang="en-US" sz="1300" b="1" dirty="0">
                <a:latin typeface="+mj-lt"/>
              </a:rPr>
              <a:t>(1,379)</a:t>
            </a:r>
          </a:p>
          <a:p>
            <a:pPr marL="0" indent="0">
              <a:buNone/>
            </a:pPr>
            <a:r>
              <a:rPr lang="en-US" sz="1400" dirty="0"/>
              <a:t>Moderate delays and increased delivery risk </a:t>
            </a:r>
          </a:p>
          <a:p>
            <a:pPr marL="0" indent="0">
              <a:buNone/>
            </a:pPr>
            <a:r>
              <a:rPr lang="en-US" sz="1400" dirty="0"/>
              <a:t>Requires closer operational monitoring</a:t>
            </a:r>
          </a:p>
          <a:p>
            <a:pPr marL="0" indent="0">
              <a:buNone/>
            </a:pPr>
            <a:r>
              <a:rPr lang="en-US" b="1" dirty="0">
                <a:latin typeface="+mj-lt"/>
              </a:rPr>
              <a:t>Strategy:</a:t>
            </a:r>
            <a:endParaRPr lang="en-US" dirty="0">
              <a:latin typeface="+mj-lt"/>
            </a:endParaRPr>
          </a:p>
          <a:p>
            <a:pPr marL="0" indent="0">
              <a:buNone/>
            </a:pPr>
            <a:r>
              <a:rPr lang="en-US" sz="1400" dirty="0"/>
              <a:t>Improve route planning</a:t>
            </a:r>
          </a:p>
          <a:p>
            <a:pPr marL="0" indent="0">
              <a:buNone/>
            </a:pPr>
            <a:r>
              <a:rPr lang="en-US" sz="1400" dirty="0"/>
              <a:t>Monitor driver performance </a:t>
            </a:r>
          </a:p>
          <a:p>
            <a:pPr marL="0" indent="0">
              <a:buNone/>
            </a:pPr>
            <a:r>
              <a:rPr lang="en-US" sz="1400" dirty="0"/>
              <a:t>Enhance customer communication for delays</a:t>
            </a:r>
            <a:endParaRPr lang="en-US" sz="1300" dirty="0">
              <a:latin typeface="+mj-lt"/>
            </a:endParaRPr>
          </a:p>
        </p:txBody>
      </p:sp>
      <p:sp>
        <p:nvSpPr>
          <p:cNvPr id="9" name="Text Placeholder 13">
            <a:extLst>
              <a:ext uri="{FF2B5EF4-FFF2-40B4-BE49-F238E27FC236}">
                <a16:creationId xmlns:a16="http://schemas.microsoft.com/office/drawing/2014/main" id="{B81DF20A-1A23-8CC6-A78F-8F12E9329BB0}"/>
              </a:ext>
            </a:extLst>
          </p:cNvPr>
          <p:cNvSpPr txBox="1">
            <a:spLocks/>
          </p:cNvSpPr>
          <p:nvPr/>
        </p:nvSpPr>
        <p:spPr>
          <a:xfrm>
            <a:off x="3251959" y="3500495"/>
            <a:ext cx="4271896" cy="3108960"/>
          </a:xfrm>
          <a:prstGeom prst="rect">
            <a:avLst/>
          </a:prstGeom>
        </p:spPr>
        <p:txBody>
          <a:bodyPr vert="horz" lIns="91440" tIns="45720" rIns="91440" bIns="45720" rtlCol="0">
            <a:normAutofit fontScale="92500"/>
          </a:bodyPr>
          <a:lstStyle>
            <a:lvl1pPr marL="512064" indent="-512064" algn="l" defTabSz="914400" rtl="0" eaLnBrk="1" latinLnBrk="0" hangingPunct="1">
              <a:lnSpc>
                <a:spcPct val="90000"/>
              </a:lnSpc>
              <a:spcBef>
                <a:spcPts val="1500"/>
              </a:spcBef>
              <a:buFont typeface="+mj-lt"/>
              <a:buAutoNum type="arabicPeriod"/>
              <a:defRPr sz="1800" kern="1200">
                <a:solidFill>
                  <a:schemeClr val="bg1"/>
                </a:solidFill>
                <a:latin typeface="+mn-lt"/>
                <a:ea typeface="+mn-ea"/>
                <a:cs typeface="+mn-cs"/>
              </a:defRPr>
            </a:lvl1pPr>
            <a:lvl2pPr marL="1097280" indent="-512064" algn="l" defTabSz="914400" rtl="0" eaLnBrk="1" latinLnBrk="0" hangingPunct="1">
              <a:lnSpc>
                <a:spcPct val="90000"/>
              </a:lnSpc>
              <a:spcBef>
                <a:spcPts val="1500"/>
              </a:spcBef>
              <a:buFont typeface="+mj-lt"/>
              <a:buAutoNum type="alphaLcPeriod"/>
              <a:defRPr sz="1800" kern="1200">
                <a:solidFill>
                  <a:schemeClr val="bg1"/>
                </a:solidFill>
                <a:latin typeface="+mn-lt"/>
                <a:ea typeface="+mn-ea"/>
                <a:cs typeface="+mn-cs"/>
              </a:defRPr>
            </a:lvl2pPr>
            <a:lvl3pPr marL="1645920" indent="-512064" algn="l" defTabSz="914400" rtl="0" eaLnBrk="1" latinLnBrk="0" hangingPunct="1">
              <a:lnSpc>
                <a:spcPct val="90000"/>
              </a:lnSpc>
              <a:spcBef>
                <a:spcPts val="1500"/>
              </a:spcBef>
              <a:buFont typeface="+mj-lt"/>
              <a:buAutoNum type="romanLcPeriod"/>
              <a:defRPr sz="1800" kern="1200">
                <a:solidFill>
                  <a:schemeClr val="bg1"/>
                </a:solidFill>
                <a:latin typeface="+mn-lt"/>
                <a:ea typeface="+mn-ea"/>
                <a:cs typeface="+mn-cs"/>
              </a:defRPr>
            </a:lvl3pPr>
            <a:lvl4pPr marL="2194560" indent="-512064" algn="l" defTabSz="914400" rtl="0" eaLnBrk="1" latinLnBrk="0" hangingPunct="1">
              <a:lnSpc>
                <a:spcPct val="90000"/>
              </a:lnSpc>
              <a:spcBef>
                <a:spcPts val="1500"/>
              </a:spcBef>
              <a:buFont typeface="+mj-lt"/>
              <a:buAutoNum type="arabicParenR"/>
              <a:defRPr sz="18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US" sz="2100" b="1" dirty="0">
                <a:latin typeface="+mj-lt"/>
              </a:rPr>
              <a:t>Cluster 0 – High Risk Deliveries </a:t>
            </a:r>
            <a:r>
              <a:rPr lang="en-US" sz="1300" b="1" dirty="0">
                <a:latin typeface="+mj-lt"/>
              </a:rPr>
              <a:t>(447)</a:t>
            </a:r>
          </a:p>
          <a:p>
            <a:pPr marL="0" indent="0">
              <a:buNone/>
            </a:pPr>
            <a:r>
              <a:rPr lang="en-US" sz="1400" dirty="0"/>
              <a:t>High delays, multiple delivery attempts, and higher return rates </a:t>
            </a:r>
          </a:p>
          <a:p>
            <a:pPr marL="0" indent="0">
              <a:buNone/>
            </a:pPr>
            <a:r>
              <a:rPr lang="en-US" sz="1400" dirty="0"/>
              <a:t>Most critical delivery segment</a:t>
            </a:r>
          </a:p>
          <a:p>
            <a:pPr marL="0" indent="0">
              <a:buNone/>
            </a:pPr>
            <a:r>
              <a:rPr lang="en-US" b="1" dirty="0">
                <a:latin typeface="+mj-lt"/>
              </a:rPr>
              <a:t>Strategy:</a:t>
            </a:r>
            <a:endParaRPr lang="en-US" dirty="0">
              <a:latin typeface="+mj-lt"/>
            </a:endParaRPr>
          </a:p>
          <a:p>
            <a:pPr marL="0" indent="0">
              <a:buNone/>
            </a:pPr>
            <a:r>
              <a:rPr lang="en-US" sz="1400" dirty="0"/>
              <a:t>Assign experienced drivers</a:t>
            </a:r>
          </a:p>
          <a:p>
            <a:pPr marL="0" indent="0">
              <a:buNone/>
            </a:pPr>
            <a:r>
              <a:rPr lang="en-US" sz="1400" dirty="0"/>
              <a:t>Prioritize monitoring and risk alerts </a:t>
            </a:r>
          </a:p>
          <a:p>
            <a:pPr marL="0" indent="0">
              <a:buNone/>
            </a:pPr>
            <a:r>
              <a:rPr lang="en-US" sz="1400" dirty="0"/>
              <a:t>Improve address validation and customer confirmation</a:t>
            </a:r>
            <a:endParaRPr lang="en-US" sz="1300" dirty="0">
              <a:latin typeface="+mj-lt"/>
            </a:endParaRPr>
          </a:p>
        </p:txBody>
      </p:sp>
    </p:spTree>
    <p:extLst>
      <p:ext uri="{BB962C8B-B14F-4D97-AF65-F5344CB8AC3E}">
        <p14:creationId xmlns:p14="http://schemas.microsoft.com/office/powerpoint/2010/main" val="25197270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6710509" y="2016579"/>
            <a:ext cx="5281621" cy="2775857"/>
          </a:xfrm>
        </p:spPr>
        <p:txBody>
          <a:bodyPr>
            <a:normAutofit fontScale="90000"/>
          </a:bodyPr>
          <a:lstStyle/>
          <a:p>
            <a:r>
              <a:rPr lang="en-US" sz="3600" dirty="0"/>
              <a:t>Overall Business Use:</a:t>
            </a:r>
            <a:br>
              <a:rPr lang="en-US" sz="3600" dirty="0"/>
            </a:br>
            <a:br>
              <a:rPr lang="en-US" sz="3600" dirty="0"/>
            </a:br>
            <a:r>
              <a:rPr lang="en-US" sz="1800" b="0" dirty="0"/>
              <a:t>This project helps Fast Man Company improve delivery operations through Business Intelligence and Artificial Intelligence techniques. The dashboards provide real-time monitoring of delivery performance, delays, returns, and operational risks. The prediction models identify deliveries that are likely to face issues, allowing proactive actions before problems occur. Clustering segments deliveries into low-, medium-, and high-risk groups, enabling targeted operational strategies. Together, these insights help reduce delays and returns, improve customer satisfaction, optimize resource allocation, minimize revenue loss, and support data-driven decision-making.</a:t>
            </a:r>
            <a:br>
              <a:rPr lang="en-US" sz="3600" dirty="0"/>
            </a:br>
            <a:endParaRPr lang="en-US" sz="3600" dirty="0"/>
          </a:p>
        </p:txBody>
      </p:sp>
      <p:pic>
        <p:nvPicPr>
          <p:cNvPr id="5" name="Picture Placeholder 4">
            <a:extLst>
              <a:ext uri="{FF2B5EF4-FFF2-40B4-BE49-F238E27FC236}">
                <a16:creationId xmlns:a16="http://schemas.microsoft.com/office/drawing/2014/main" id="{867EED95-1785-2CFF-AB72-C7852C4B1E15}"/>
              </a:ext>
            </a:extLst>
          </p:cNvPr>
          <p:cNvPicPr>
            <a:picLocks noGrp="1" noChangeAspect="1"/>
          </p:cNvPicPr>
          <p:nvPr>
            <p:ph type="pic" sz="quarter" idx="48"/>
          </p:nvPr>
        </p:nvPicPr>
        <p:blipFill>
          <a:blip r:embed="rId2"/>
          <a:srcRect l="6522" r="6522"/>
          <a:stretch/>
        </p:blipFill>
        <p:spPr>
          <a:xfrm>
            <a:off x="914400" y="539496"/>
            <a:ext cx="5025207" cy="5779008"/>
          </a:xfrm>
        </p:spPr>
      </p:pic>
    </p:spTree>
    <p:extLst>
      <p:ext uri="{BB962C8B-B14F-4D97-AF65-F5344CB8AC3E}">
        <p14:creationId xmlns:p14="http://schemas.microsoft.com/office/powerpoint/2010/main" val="11482279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96000" y="1325880"/>
            <a:ext cx="5394960" cy="2103120"/>
          </a:xfrm>
        </p:spPr>
        <p:txBody>
          <a:bodyPr>
            <a:normAutofit/>
          </a:bodyPr>
          <a:lstStyle/>
          <a:p>
            <a:r>
              <a:rPr lang="en-US" sz="6600" dirty="0"/>
              <a:t>Thank you</a:t>
            </a:r>
          </a:p>
        </p:txBody>
      </p:sp>
    </p:spTree>
    <p:extLst>
      <p:ext uri="{BB962C8B-B14F-4D97-AF65-F5344CB8AC3E}">
        <p14:creationId xmlns:p14="http://schemas.microsoft.com/office/powerpoint/2010/main" val="5292794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{66B41D4C-D402-4B9B-88A6-318290270F57}TF63aebcec-8e39-4664-940a-dd6c2f00c54d020a9832_win32-3cdd3ee32610</Template>
  <TotalTime>294</TotalTime>
  <Words>1525</Words>
  <Application>Microsoft Office PowerPoint</Application>
  <PresentationFormat>Widescreen</PresentationFormat>
  <Paragraphs>71</Paragraphs>
  <Slides>16</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等线</vt:lpstr>
      <vt:lpstr>Abadi</vt:lpstr>
      <vt:lpstr>Arial</vt:lpstr>
      <vt:lpstr>Calibri</vt:lpstr>
      <vt:lpstr>Posterama</vt:lpstr>
      <vt:lpstr>Posterama Text SemiBold</vt:lpstr>
      <vt:lpstr>Custom</vt:lpstr>
      <vt:lpstr>Smart Logistics Intelligence System for Delivery Optimization &amp; Risk Prediction</vt:lpstr>
      <vt:lpstr> Delivery &amp; Logistics Analytics System  This project uses Business Intelligence and AI techniques to analyze delivery performance, delays, returns, customer risk, and operational efficiency.   The project combines: Power BI dashboards  KNIME analytics workflows  Machine Learning models  Customer segmentation techniques</vt:lpstr>
      <vt:lpstr>Problem  Fast Man Company faces challenges related to delivery delays, returned orders, revenue loss, and identifying high-risk deliveries. Manual monitoring makes it difficult to detect patterns and improve operational performance.  Objectives  - Analyze delivery performance, delays, returns, and revenue. - Monitor driver and regional performance.  - Predict delivery risks and returned orders using Machine Learning.  - Segment deliveries into meaningful groups using K-Means clustering.  - Support data-driven decision-making through interactive Power BI dashboards.   Goal  Develop a Smart Logistics Intelligence System that improves delivery efficiency, reduces operational risks, and supports better business decisions.</vt:lpstr>
      <vt:lpstr>Dataset Overview  The dataset used in this project was provided by Fast Man Company in Jordan and contains real logistics and delivery operation records. It includes information related to orders, customers, drivers, delivery status, return status, delivery attempts, payment methods, revenue, delivery fees, booking dates, delivery dates, and failure reasons. During the preprocessing phase, additional variables such as Delivery Delay, Scheduled Days, Actual Delivery Days, Is Late, and Is Returned were created to support analysis and machine learning modeling. The dataset served as the foundation for evaluating delivery performance, identifying operational risks, predicting delivery outcomes, and developing business intelligence dashboards to support data-driven decision-making. </vt:lpstr>
      <vt:lpstr>Data Cleansing</vt:lpstr>
      <vt:lpstr>Operations Performance Dashboard Overview   The Operations Performance Dashboard provides a high-level view of Fast Man’s delivery operations. It summarizes key performance indicators such as total orders, total revenue, success rate, average delay, on-time delivery rate, return rate, and late delivery rate. The dashboard also analyzes order status distribution, delivery performance trends over time, regional order volumes, and driver success rates. These insights help management monitor operational efficiency, evaluate delivery performance, and identify areas requiring improvement.</vt:lpstr>
      <vt:lpstr>Delay Analysis Dashboard Overview   The Delay Analysis Dashboard focuses on understanding delivery delays across different operational dimensions. It analyzes delays by city, driver, sender location, delivery attempts, and time. The dashboard also categorizes delays into on-time, slight delay, and moderate delay groups to highlight the severity of delivery issues. By identifying the regions, drivers, and routes with the highest delays, the dashboard supports efforts to optimize delivery operations, reduce late shipments, and improve customer satisfaction.</vt:lpstr>
      <vt:lpstr>Route Optimization Dashboard Overview   The Route Optimization Dashboard analyzes delivery performance across different sender and destination cities. It uses a heatmap to highlight average delivery delays between routes and a trend chart to compare routes based on their delay levels. This dashboard helps identify inefficient delivery routes, detect areas with recurring delays, and support route planning decisions that improve delivery speed and operational efficiency.</vt:lpstr>
      <vt:lpstr>Return Analysis Dashboard Overview  The Return Analysis Dashboard focuses on understanding returned orders and failed deliveries. It analyzes the main reasons for delivery failure, return rates by region, driver return performance, delivery attempts, payment methods, and return trends over time. These insights help the company identify the root causes of returns, reduce failed deliveries, improve customer communication, and minimize revenue losses associated with returned orders.</vt:lpstr>
      <vt:lpstr>Risk Analysis Dashboard Overview  The Risk Analysis Dashboard evaluates operational risks by combining return rates, delivery delays, customer behavior, and financial impact. It includes risk scores by region, status distribution, late versus return rate analysis, driver risk assessment, lost revenue by driver, and customer-level risk metrics. This dashboard helps management identify high-risk regions, customers, and drivers, allowing proactive actions to reduce losses, improve delivery performance, and enhance overall operational reliability.</vt:lpstr>
      <vt:lpstr>The prediction models were developed in KNIME to forecast delivery outcomes. The dataset was loaded, relevant features were selected, and numerical values were normalized. The data was then split into training and testing sets using the Table Partitioner. Two models, Logistic Regression and Random Forest, were trained and used to generate predictions on the test data. Finally, the Scorer node evaluated model performance using metrics such as accuracy, precision, recall, and F-measure. Random Forest achieved the best overall performance.</vt:lpstr>
      <vt:lpstr>Logistic Regression Results: Accuracy: 73.9%  Precision: 92.0%  Recall (Sensitivity): 72.9%  Specificity: 77.3%  F-Measure: 81.3%   Explanation: Logistic Regression achieved strong precision, meaning it was very effective at correctly identifying customers who would respond positively to the campaign. However, its overall accuracy and recall were lower than Random Forest, indicating that some potential responders were missed.  Random Forest Results Accuracy: 77.5%  Precision: 91.7%  Recall (Sensitivity): 76.6%  Specificity: 80.1%  F-Measure: 83.5%  Explanation: Random Forest achieved higher accuracy, recall, specificity, and F-measure compared to Logistic Regression. This indicates a better overall ability to correctly classify both responding and non-responding customers while reducing prediction errors.  Winning Model: Random Forest  Highest accuracy (77.5%)  Better recall and specificity  Highest F-measure (83.5%)  More effective at capturing complex customer behavior patterns   Business Impact: Random Forest provides more reliable customer response predictions, helping businesses improve campaign targeting, reduce marketing costs, and increase conversion rates. </vt:lpstr>
      <vt:lpstr>The clustering model was developed in KNIME using the K-Means algorithm to group similar deliveries based on their characteristics. The dataset was loaded using the Excel Reader, relevant variables were selected through the Column Filter, and numerical values were standardized using the Normalizer. The K-Means node then analyzed the data and divided records into distinct clusters based on similarity patterns. The Cluster Assigner assigned each record to its corresponding cluster, while the Color Manager and Bar Chart were used to visualize the cluster distribution. This process helped identify different delivery behavior groups and supported targeted operational strategies.</vt:lpstr>
      <vt:lpstr>PowerPoint Presentation</vt:lpstr>
      <vt:lpstr>Overall Business Use:  This project helps Fast Man Company improve delivery operations through Business Intelligence and Artificial Intelligence techniques. The dashboards provide real-time monitoring of delivery performance, delays, returns, and operational risks. The prediction models identify deliveries that are likely to face issues, allowing proactive actions before problems occur. Clustering segments deliveries into low-, medium-, and high-risk groups, enabling targeted operational strategies. Together, these insights help reduce delays and returns, improve customer satisfaction, optimize resource allocation, minimize revenue loss, and support data-driven decision-making.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مريم لؤي محمد الحسيني</dc:creator>
  <cp:lastModifiedBy>مريم لؤي محمد الحسيني</cp:lastModifiedBy>
  <cp:revision>2</cp:revision>
  <dcterms:created xsi:type="dcterms:W3CDTF">2026-05-31T12:24:09Z</dcterms:created>
  <dcterms:modified xsi:type="dcterms:W3CDTF">2026-05-31T20:57:44Z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